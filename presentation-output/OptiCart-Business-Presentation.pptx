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4323-F981-633B-B4BC-6DC8EE8B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36C71-A770-9D5E-93AE-6347B0C0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F733C-6525-7A0D-6542-44CEB8F9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20CC-7094-81A3-71D5-3884B924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8C57A-F01B-BEE4-8B4C-06060BD2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8478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FA93-041C-75D6-84A7-7A875687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FA28-7681-EBA2-5510-F8318C39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8A576-F197-7C63-F9E7-AF503308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8497-C086-1036-16B8-D7D14384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DF575-75FD-8C59-CFCF-1B9EBAA8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561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320D-BF77-6B68-C7D9-49E205A7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35C43-96E0-46C1-F5C0-6FB6626FA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D793D-D98F-7EC3-D19F-0712465E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3FF36-D0F0-2D3E-1691-1B646AC4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908A-61E2-CDAE-471D-1FA3B993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6830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6792-5838-71E7-334C-258AD07A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E787-716E-133A-CB32-737CA62B4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C8D2C-73B7-8885-5E9B-A38A3F37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8D49A-CE57-99FE-851B-575CBA7C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4B70-2592-DD62-411A-6F560A5D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A2BD0-962E-05D1-C987-ECBDEBFE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98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C8E2-BCF6-8ACB-7E33-E743E485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FDC2-AFCB-85BA-4894-5D078592F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F31BF-2F15-7DDA-A147-D7BEFF59D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70753-4D66-6539-B7E4-C3826F0E9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38693-D50D-13F1-4115-A80EC853D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D3AD1-B304-6167-4BF3-46DA0D36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9ACA0-3217-6486-1EA1-B85B3280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34799-7FB6-B8CC-6F7F-4FD76541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617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1B1F-ED2C-7496-0428-7B5C861E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58B12-72E9-CC0A-C2B6-2D21A2A5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C10A4-D38A-82D4-E184-B8663624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7BDFF-FF54-913B-1A97-FC123BCA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744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BF995-0D5B-84BD-B50B-962E3DD8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AA945-6916-E93C-E98B-77D105DF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FAF9E-C7BE-C50A-D78A-623367E5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41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7CFE-3549-ED39-0F34-DE4A3582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5B60-4634-B029-2770-9468ECCCE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DD4C3-9158-9C6A-EBE4-5BE9E71F5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2495A-CE7B-CB98-3E32-EF316D90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65C1B-1D8F-321E-AF23-E8349ECC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9FDF1-9CC1-9166-669E-728FE60D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729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CD66-C3E5-9C46-B795-0AA62EE2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FEFEE-82F1-0FFF-8A6C-82569F39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052E4-4990-154E-80DF-2002E9CA3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3A775-5D9E-BD49-8688-C8EF57C1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00273-7009-6075-8E55-6BA1DE1E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26DF0-3856-DC92-174F-1196AA9F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047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8538-B069-E46D-4418-01EF4A6B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F344D-A2AE-48D5-25D6-CB86AF3C4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A6D4-88EB-A65A-CB43-20BC62C9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2731-172F-97DD-EACD-D714B8F7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B1844-D966-EA02-BBCA-403A38B6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4589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C5513-8306-4207-876B-02D397C5C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64D93-42C5-8E02-2E7D-33BC2FB26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4AE9-39E2-6339-1518-B90E835D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00092-A673-B241-8C9B-B4FCEED2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8E7AA-795F-9F2E-ADDB-3EDA8F65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396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F4A5E-D5F3-F439-494A-D2CEA817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3F28C-D8AB-7C52-0801-E71EC016A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EC67-9D96-6D9E-5476-C6FEF81B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4FD99-5863-45A4-89D0-806703E95DD1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684E3-AD7D-47B9-76BD-11737FF80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2657-DC81-90EF-CFA6-5CEA84999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C31E8-411F-4C64-BC8C-BB7D9B6F66D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593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3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AB9143-8D1F-4C39-9CFE-191C1615F1F0}"/>
              </a:ext>
            </a:extLst>
          </p:cNvPr>
          <p:cNvSpPr txBox="1"/>
          <p:nvPr/>
        </p:nvSpPr>
        <p:spPr>
          <a:xfrm>
            <a:off x="660400" y="457200"/>
            <a:ext cx="7747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Inter"/>
              </a:rPr>
              <a:t>Opti</a:t>
            </a:r>
            <a:endParaRPr lang="en-A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A2B65-CD48-E88A-7CBD-A44D9D3F489F}"/>
              </a:ext>
            </a:extLst>
          </p:cNvPr>
          <p:cNvSpPr txBox="1"/>
          <p:nvPr/>
        </p:nvSpPr>
        <p:spPr>
          <a:xfrm>
            <a:off x="1333500" y="457200"/>
            <a:ext cx="7747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EA580C"/>
                </a:solidFill>
                <a:latin typeface="Inter"/>
              </a:rPr>
              <a:t>Cart</a:t>
            </a:r>
            <a:endParaRPr lang="en-AE" sz="2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2238CC-E1CA-2673-2362-2214DFCAACFB}"/>
              </a:ext>
            </a:extLst>
          </p:cNvPr>
          <p:cNvSpPr/>
          <p:nvPr/>
        </p:nvSpPr>
        <p:spPr>
          <a:xfrm>
            <a:off x="660400" y="1257300"/>
            <a:ext cx="1968500" cy="304800"/>
          </a:xfrm>
          <a:prstGeom prst="round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580FD-9633-501F-C462-381DE7431519}"/>
              </a:ext>
            </a:extLst>
          </p:cNvPr>
          <p:cNvSpPr txBox="1"/>
          <p:nvPr/>
        </p:nvSpPr>
        <p:spPr>
          <a:xfrm>
            <a:off x="660400" y="1320800"/>
            <a:ext cx="1968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Inter"/>
              </a:rPr>
              <a:t>BUSINESS PRESENTATION</a:t>
            </a:r>
            <a:endParaRPr lang="en-AE" sz="9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64DC9-B73B-E294-E430-9DD35557F6D2}"/>
              </a:ext>
            </a:extLst>
          </p:cNvPr>
          <p:cNvSpPr txBox="1"/>
          <p:nvPr/>
        </p:nvSpPr>
        <p:spPr>
          <a:xfrm>
            <a:off x="660400" y="1803400"/>
            <a:ext cx="5016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Inter"/>
              </a:rPr>
              <a:t>One connected commerce operation</a:t>
            </a:r>
            <a:endParaRPr lang="en-AE" sz="38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FED41-2D5F-5787-5579-9F459F64701E}"/>
              </a:ext>
            </a:extLst>
          </p:cNvPr>
          <p:cNvSpPr txBox="1"/>
          <p:nvPr/>
        </p:nvSpPr>
        <p:spPr>
          <a:xfrm>
            <a:off x="660400" y="34798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FDEDE4"/>
                </a:solidFill>
                <a:latin typeface="Inter"/>
              </a:rPr>
              <a:t>From product discovery to business decision.</a:t>
            </a:r>
            <a:endParaRPr lang="en-AE" sz="1600">
              <a:solidFill>
                <a:srgbClr val="FDEDE4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724C4-94AA-FA67-236E-510D2846CC74}"/>
              </a:ext>
            </a:extLst>
          </p:cNvPr>
          <p:cNvSpPr txBox="1"/>
          <p:nvPr/>
        </p:nvSpPr>
        <p:spPr>
          <a:xfrm>
            <a:off x="660400" y="4635500"/>
            <a:ext cx="419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7C6AF"/>
                </a:solidFill>
                <a:latin typeface="Inter"/>
              </a:rPr>
              <a:t>A complete appliance commerce platform</a:t>
            </a:r>
            <a:endParaRPr lang="en-AE" sz="1000" b="1">
              <a:solidFill>
                <a:srgbClr val="F7C6AF"/>
              </a:solidFill>
              <a:latin typeface="Inte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DADB67-0B43-FF4D-6B97-23C6DFD27B07}"/>
              </a:ext>
            </a:extLst>
          </p:cNvPr>
          <p:cNvSpPr/>
          <p:nvPr/>
        </p:nvSpPr>
        <p:spPr>
          <a:xfrm>
            <a:off x="6235700" y="749300"/>
            <a:ext cx="5346700" cy="3340100"/>
          </a:xfrm>
          <a:prstGeom prst="roundRect">
            <a:avLst/>
          </a:prstGeom>
          <a:solidFill>
            <a:srgbClr val="D6D3D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0CC64C-A8CA-0AF3-7D2F-3AE1659DC356}"/>
              </a:ext>
            </a:extLst>
          </p:cNvPr>
          <p:cNvSpPr/>
          <p:nvPr/>
        </p:nvSpPr>
        <p:spPr>
          <a:xfrm>
            <a:off x="6159500" y="660400"/>
            <a:ext cx="5397500" cy="339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2410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7A03B6-0911-5833-1653-6131DE3E86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0" y="685800"/>
            <a:ext cx="5346700" cy="33401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9E2333-CDD7-3D75-D3DF-B729E51F8B46}"/>
              </a:ext>
            </a:extLst>
          </p:cNvPr>
          <p:cNvSpPr/>
          <p:nvPr/>
        </p:nvSpPr>
        <p:spPr>
          <a:xfrm>
            <a:off x="6184900" y="4203700"/>
            <a:ext cx="5346700" cy="1460500"/>
          </a:xfrm>
          <a:prstGeom prst="roundRect">
            <a:avLst/>
          </a:prstGeom>
          <a:solidFill>
            <a:srgbClr val="7C2D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63FF0-FD30-1170-78C2-78EAC4842B82}"/>
              </a:ext>
            </a:extLst>
          </p:cNvPr>
          <p:cNvSpPr txBox="1"/>
          <p:nvPr/>
        </p:nvSpPr>
        <p:spPr>
          <a:xfrm>
            <a:off x="6489700" y="44831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F7C6AF"/>
                </a:solidFill>
                <a:latin typeface="Inter"/>
              </a:rPr>
              <a:t>CUSTOMER JOURNEY</a:t>
            </a:r>
            <a:endParaRPr lang="en-AE" sz="900" b="1">
              <a:solidFill>
                <a:srgbClr val="F7C6AF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F7969-B5CD-50B2-5736-618DF4F46394}"/>
              </a:ext>
            </a:extLst>
          </p:cNvPr>
          <p:cNvSpPr txBox="1"/>
          <p:nvPr/>
        </p:nvSpPr>
        <p:spPr>
          <a:xfrm>
            <a:off x="9182100" y="4483100"/>
            <a:ext cx="203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 b="1">
                <a:solidFill>
                  <a:srgbClr val="F7C6AF"/>
                </a:solidFill>
                <a:latin typeface="Inter"/>
              </a:rPr>
              <a:t>BUSINESS CONTROL</a:t>
            </a:r>
            <a:endParaRPr lang="en-AE" sz="900" b="1">
              <a:solidFill>
                <a:srgbClr val="F7C6AF"/>
              </a:solidFill>
              <a:latin typeface="Inte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DFE44D-DB1E-7EB0-6C9E-31B348716783}"/>
              </a:ext>
            </a:extLst>
          </p:cNvPr>
          <p:cNvCxnSpPr/>
          <p:nvPr/>
        </p:nvCxnSpPr>
        <p:spPr>
          <a:xfrm>
            <a:off x="6642100" y="5054600"/>
            <a:ext cx="4406900" cy="0"/>
          </a:xfrm>
          <a:prstGeom prst="line">
            <a:avLst/>
          </a:prstGeom>
          <a:ln w="38100" cap="flat" cmpd="sng" algn="ctr">
            <a:solidFill>
              <a:srgbClr val="F9731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11B9CF-1F33-63E4-CA27-A4C498738EF9}"/>
              </a:ext>
            </a:extLst>
          </p:cNvPr>
          <p:cNvSpPr/>
          <p:nvPr/>
        </p:nvSpPr>
        <p:spPr>
          <a:xfrm>
            <a:off x="8737600" y="4902200"/>
            <a:ext cx="304800" cy="3048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7C951A-4BA5-0FBE-ABDB-006B568E0278}"/>
              </a:ext>
            </a:extLst>
          </p:cNvPr>
          <p:cNvSpPr txBox="1"/>
          <p:nvPr/>
        </p:nvSpPr>
        <p:spPr>
          <a:xfrm>
            <a:off x="8737600" y="49657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&lt;-&gt;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8E7850-DA13-61DF-1F6F-CCAF84B57FE7}"/>
              </a:ext>
            </a:extLst>
          </p:cNvPr>
          <p:cNvSpPr/>
          <p:nvPr/>
        </p:nvSpPr>
        <p:spPr>
          <a:xfrm>
            <a:off x="660400" y="6134100"/>
            <a:ext cx="838200" cy="304800"/>
          </a:xfrm>
          <a:prstGeom prst="roundRect">
            <a:avLst/>
          </a:prstGeom>
          <a:solidFill>
            <a:srgbClr val="FDED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7B98D3-B1DC-903B-20E8-FFD9CA5217D3}"/>
              </a:ext>
            </a:extLst>
          </p:cNvPr>
          <p:cNvSpPr txBox="1"/>
          <p:nvPr/>
        </p:nvSpPr>
        <p:spPr>
          <a:xfrm>
            <a:off x="660400" y="61976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MALIK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BC713-3476-7E48-D754-EED171E3EA6D}"/>
              </a:ext>
            </a:extLst>
          </p:cNvPr>
          <p:cNvSpPr txBox="1"/>
          <p:nvPr/>
        </p:nvSpPr>
        <p:spPr>
          <a:xfrm>
            <a:off x="10769600" y="61976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AE" sz="800" b="1">
                <a:solidFill>
                  <a:srgbClr val="F7C6AF"/>
                </a:solidFill>
                <a:latin typeface="Inter"/>
              </a:rPr>
              <a:t>01 / 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75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EDE232-9760-BE8E-C5D8-0F97E39E090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ADC8B-E8A8-26ED-3AE4-23AFE104C631}"/>
              </a:ext>
            </a:extLst>
          </p:cNvPr>
          <p:cNvSpPr txBox="1"/>
          <p:nvPr/>
        </p:nvSpPr>
        <p:spPr>
          <a:xfrm>
            <a:off x="533400" y="304800"/>
            <a:ext cx="520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A580C"/>
                </a:solidFill>
                <a:latin typeface="Inter"/>
              </a:rPr>
              <a:t>THE BUSINESS NEED</a:t>
            </a:r>
            <a:endParaRPr lang="en-AE" sz="1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0BDD0-046A-DE48-E2C4-F98130F4A7F8}"/>
              </a:ext>
            </a:extLst>
          </p:cNvPr>
          <p:cNvSpPr txBox="1"/>
          <p:nvPr/>
        </p:nvSpPr>
        <p:spPr>
          <a:xfrm>
            <a:off x="533400" y="635000"/>
            <a:ext cx="1079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C1917"/>
                </a:solidFill>
                <a:latin typeface="Inter"/>
              </a:rPr>
              <a:t>Two sides. One product.</a:t>
            </a:r>
            <a:endParaRPr lang="en-AE" sz="26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7049A-F403-53CC-EC45-5BA4E0057145}"/>
              </a:ext>
            </a:extLst>
          </p:cNvPr>
          <p:cNvSpPr txBox="1"/>
          <p:nvPr/>
        </p:nvSpPr>
        <p:spPr>
          <a:xfrm>
            <a:off x="533400" y="1244600"/>
            <a:ext cx="1073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7534E"/>
                </a:solidFill>
                <a:latin typeface="Inter"/>
              </a:rPr>
              <a:t>Shared commerce data gives customers continuity and staff the control they need.</a:t>
            </a:r>
            <a:endParaRPr lang="en-AE" sz="1200">
              <a:solidFill>
                <a:srgbClr val="57534E"/>
              </a:solidFill>
              <a:latin typeface="Inter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E7A631-4F7C-006E-6A33-E32A607FDCB5}"/>
              </a:ext>
            </a:extLst>
          </p:cNvPr>
          <p:cNvSpPr/>
          <p:nvPr/>
        </p:nvSpPr>
        <p:spPr>
          <a:xfrm>
            <a:off x="533400" y="1943100"/>
            <a:ext cx="4749800" cy="3721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935E73-0658-AC53-FED5-FF4F18128148}"/>
              </a:ext>
            </a:extLst>
          </p:cNvPr>
          <p:cNvSpPr/>
          <p:nvPr/>
        </p:nvSpPr>
        <p:spPr>
          <a:xfrm>
            <a:off x="6908800" y="1943100"/>
            <a:ext cx="4749800" cy="37211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ED7A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D55646-5072-1E64-A3EC-99F35431A09A}"/>
              </a:ext>
            </a:extLst>
          </p:cNvPr>
          <p:cNvSpPr/>
          <p:nvPr/>
        </p:nvSpPr>
        <p:spPr>
          <a:xfrm>
            <a:off x="889000" y="2298700"/>
            <a:ext cx="533400" cy="533400"/>
          </a:xfrm>
          <a:prstGeom prst="round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17C91-6A51-E444-F541-5E6216642DA5}"/>
              </a:ext>
            </a:extLst>
          </p:cNvPr>
          <p:cNvSpPr txBox="1"/>
          <p:nvPr/>
        </p:nvSpPr>
        <p:spPr>
          <a:xfrm>
            <a:off x="889000" y="24130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Inter"/>
              </a:rPr>
              <a:t>C</a:t>
            </a:r>
            <a:endParaRPr lang="en-AE" sz="15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EEAAD-A96A-E389-9122-F7D8A78BAAE1}"/>
              </a:ext>
            </a:extLst>
          </p:cNvPr>
          <p:cNvSpPr txBox="1"/>
          <p:nvPr/>
        </p:nvSpPr>
        <p:spPr>
          <a:xfrm>
            <a:off x="889000" y="30353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C1917"/>
                </a:solidFill>
                <a:latin typeface="Inter"/>
              </a:rPr>
              <a:t>Customer experience</a:t>
            </a:r>
            <a:endParaRPr lang="en-AE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54785-A171-C368-C0D8-0130DBBE9CCF}"/>
              </a:ext>
            </a:extLst>
          </p:cNvPr>
          <p:cNvSpPr txBox="1"/>
          <p:nvPr/>
        </p:nvSpPr>
        <p:spPr>
          <a:xfrm>
            <a:off x="889000" y="36703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Discover clearly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A535E-0CC8-0B40-D02A-8D2652507D18}"/>
              </a:ext>
            </a:extLst>
          </p:cNvPr>
          <p:cNvSpPr txBox="1"/>
          <p:nvPr/>
        </p:nvSpPr>
        <p:spPr>
          <a:xfrm>
            <a:off x="889000" y="41402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Keep saved choices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C8F17-B6FD-B3B8-6D16-96A3D4C9B122}"/>
              </a:ext>
            </a:extLst>
          </p:cNvPr>
          <p:cNvSpPr txBox="1"/>
          <p:nvPr/>
        </p:nvSpPr>
        <p:spPr>
          <a:xfrm>
            <a:off x="889000" y="4610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Know what happens next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A79883-CABC-D380-3D10-392BB856D99C}"/>
              </a:ext>
            </a:extLst>
          </p:cNvPr>
          <p:cNvSpPr/>
          <p:nvPr/>
        </p:nvSpPr>
        <p:spPr>
          <a:xfrm>
            <a:off x="7264400" y="2298700"/>
            <a:ext cx="533400" cy="5334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1B273-C27F-0014-B8D3-FDBE0EC4DE9B}"/>
              </a:ext>
            </a:extLst>
          </p:cNvPr>
          <p:cNvSpPr txBox="1"/>
          <p:nvPr/>
        </p:nvSpPr>
        <p:spPr>
          <a:xfrm>
            <a:off x="7264400" y="24130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Inter"/>
              </a:rPr>
              <a:t>B</a:t>
            </a:r>
            <a:endParaRPr lang="en-AE" sz="15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6D942E-7402-0224-8B94-71CA4A80C051}"/>
              </a:ext>
            </a:extLst>
          </p:cNvPr>
          <p:cNvSpPr txBox="1"/>
          <p:nvPr/>
        </p:nvSpPr>
        <p:spPr>
          <a:xfrm>
            <a:off x="7264400" y="30353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C1917"/>
                </a:solidFill>
                <a:latin typeface="Inter"/>
              </a:rPr>
              <a:t>Business operations</a:t>
            </a:r>
            <a:endParaRPr lang="en-AE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08B3D8-3F8E-C49F-AB3F-F2A4A3C690D2}"/>
              </a:ext>
            </a:extLst>
          </p:cNvPr>
          <p:cNvSpPr txBox="1"/>
          <p:nvPr/>
        </p:nvSpPr>
        <p:spPr>
          <a:xfrm>
            <a:off x="7264400" y="3670300"/>
            <a:ext cx="361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See orders needing action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921748-4A01-2C50-C7CE-18FC563B49EA}"/>
              </a:ext>
            </a:extLst>
          </p:cNvPr>
          <p:cNvSpPr txBox="1"/>
          <p:nvPr/>
        </p:nvSpPr>
        <p:spPr>
          <a:xfrm>
            <a:off x="7264400" y="4140200"/>
            <a:ext cx="361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Protect product availability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1AED7-4871-C258-8037-16A54343336C}"/>
              </a:ext>
            </a:extLst>
          </p:cNvPr>
          <p:cNvSpPr txBox="1"/>
          <p:nvPr/>
        </p:nvSpPr>
        <p:spPr>
          <a:xfrm>
            <a:off x="7264400" y="4610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C1917"/>
                </a:solidFill>
                <a:latin typeface="Inter"/>
              </a:rPr>
              <a:t>Learn from activity</a:t>
            </a:r>
            <a:endParaRPr lang="en-AE" sz="1200" b="1">
              <a:solidFill>
                <a:srgbClr val="1C1917"/>
              </a:solidFill>
              <a:latin typeface="Inter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19FF2D-8BB3-F2E9-6500-2620F46F04EC}"/>
              </a:ext>
            </a:extLst>
          </p:cNvPr>
          <p:cNvCxnSpPr/>
          <p:nvPr/>
        </p:nvCxnSpPr>
        <p:spPr>
          <a:xfrm>
            <a:off x="5283200" y="3797300"/>
            <a:ext cx="1625600" cy="0"/>
          </a:xfrm>
          <a:prstGeom prst="line">
            <a:avLst/>
          </a:prstGeom>
          <a:ln w="38100" cap="flat" cmpd="sng" algn="ctr">
            <a:solidFill>
              <a:srgbClr val="EA580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F2060F-DF30-B5FA-9B1E-9C2D8CB0838C}"/>
              </a:ext>
            </a:extLst>
          </p:cNvPr>
          <p:cNvSpPr/>
          <p:nvPr/>
        </p:nvSpPr>
        <p:spPr>
          <a:xfrm>
            <a:off x="5791200" y="3403600"/>
            <a:ext cx="609600" cy="774700"/>
          </a:xfrm>
          <a:prstGeom prst="roundRect">
            <a:avLst/>
          </a:prstGeom>
          <a:solidFill>
            <a:srgbClr val="9A34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ECA6B5-1730-96DA-0937-C88F6A499967}"/>
              </a:ext>
            </a:extLst>
          </p:cNvPr>
          <p:cNvSpPr txBox="1"/>
          <p:nvPr/>
        </p:nvSpPr>
        <p:spPr>
          <a:xfrm>
            <a:off x="5791200" y="3670300"/>
            <a:ext cx="60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1200" b="1">
                <a:solidFill>
                  <a:srgbClr val="FFFFFF"/>
                </a:solidFill>
                <a:latin typeface="Inter"/>
              </a:rPr>
              <a:t>&lt;-&gt;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1536DD-B015-0658-7D76-0A940CB81761}"/>
              </a:ext>
            </a:extLst>
          </p:cNvPr>
          <p:cNvSpPr/>
          <p:nvPr/>
        </p:nvSpPr>
        <p:spPr>
          <a:xfrm>
            <a:off x="5549900" y="4419600"/>
            <a:ext cx="10922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0B542-465E-293D-080C-BC6E9801F6CA}"/>
              </a:ext>
            </a:extLst>
          </p:cNvPr>
          <p:cNvSpPr txBox="1"/>
          <p:nvPr/>
        </p:nvSpPr>
        <p:spPr>
          <a:xfrm>
            <a:off x="5549900" y="4483100"/>
            <a:ext cx="1092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SHARED DATA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C93858-40F9-DBD6-3321-CB8381C6D7DD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9525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299209-D24C-5283-303C-9EF016C21344}"/>
              </a:ext>
            </a:extLst>
          </p:cNvPr>
          <p:cNvSpPr/>
          <p:nvPr/>
        </p:nvSpPr>
        <p:spPr>
          <a:xfrm>
            <a:off x="533400" y="6502400"/>
            <a:ext cx="8382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4B4750-8811-1C5B-69FE-E54F3CDDA53F}"/>
              </a:ext>
            </a:extLst>
          </p:cNvPr>
          <p:cNvSpPr txBox="1"/>
          <p:nvPr/>
        </p:nvSpPr>
        <p:spPr>
          <a:xfrm>
            <a:off x="533400" y="65659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MALIK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E87347-2305-2181-AB87-56D5CC7043BC}"/>
              </a:ext>
            </a:extLst>
          </p:cNvPr>
          <p:cNvSpPr txBox="1"/>
          <p:nvPr/>
        </p:nvSpPr>
        <p:spPr>
          <a:xfrm>
            <a:off x="10896600" y="65532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AE" sz="800" b="1">
                <a:solidFill>
                  <a:srgbClr val="A8A29E"/>
                </a:solidFill>
                <a:latin typeface="Inter"/>
              </a:rPr>
              <a:t>02 / 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6923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4C507-6B90-525D-4844-32B21A697887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285E-F51C-630F-406D-E30D29C0BD58}"/>
              </a:ext>
            </a:extLst>
          </p:cNvPr>
          <p:cNvSpPr txBox="1"/>
          <p:nvPr/>
        </p:nvSpPr>
        <p:spPr>
          <a:xfrm>
            <a:off x="533400" y="304800"/>
            <a:ext cx="520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A580C"/>
                </a:solidFill>
                <a:latin typeface="Inter"/>
              </a:rPr>
              <a:t>PILLAR 1 - CUSTOMER EXPERIENCE</a:t>
            </a:r>
            <a:endParaRPr lang="en-AE" sz="1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3CF83-7E84-12EE-9980-A8B67388A511}"/>
              </a:ext>
            </a:extLst>
          </p:cNvPr>
          <p:cNvSpPr txBox="1"/>
          <p:nvPr/>
        </p:nvSpPr>
        <p:spPr>
          <a:xfrm>
            <a:off x="533400" y="635000"/>
            <a:ext cx="1079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C1917"/>
                </a:solidFill>
                <a:latin typeface="Inter"/>
              </a:rPr>
              <a:t>Make buying easier to complete</a:t>
            </a:r>
            <a:endParaRPr lang="en-AE" sz="26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B0A78-1D32-7E56-5FDC-73D0BEE195E1}"/>
              </a:ext>
            </a:extLst>
          </p:cNvPr>
          <p:cNvSpPr txBox="1"/>
          <p:nvPr/>
        </p:nvSpPr>
        <p:spPr>
          <a:xfrm>
            <a:off x="533400" y="1244600"/>
            <a:ext cx="1073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7534E"/>
                </a:solidFill>
                <a:latin typeface="Inter"/>
              </a:rPr>
              <a:t>OptiCart reduces breaks between discovery, purchase, and post-purchase service.</a:t>
            </a:r>
            <a:endParaRPr lang="en-AE" sz="1200">
              <a:solidFill>
                <a:srgbClr val="57534E"/>
              </a:solidFill>
              <a:latin typeface="Inter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69164C-8D9A-2D97-F822-EB96DE7D551A}"/>
              </a:ext>
            </a:extLst>
          </p:cNvPr>
          <p:cNvSpPr/>
          <p:nvPr/>
        </p:nvSpPr>
        <p:spPr>
          <a:xfrm>
            <a:off x="584200" y="1981200"/>
            <a:ext cx="7073900" cy="4419600"/>
          </a:xfrm>
          <a:prstGeom prst="roundRect">
            <a:avLst/>
          </a:prstGeom>
          <a:solidFill>
            <a:srgbClr val="D6D3D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A86CB1-810D-AE95-1BC0-8B5A9C663014}"/>
              </a:ext>
            </a:extLst>
          </p:cNvPr>
          <p:cNvSpPr/>
          <p:nvPr/>
        </p:nvSpPr>
        <p:spPr>
          <a:xfrm>
            <a:off x="508000" y="1892300"/>
            <a:ext cx="7124700" cy="447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86BAA5-C23F-DD29-BFA8-807AFEA76B5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17700"/>
            <a:ext cx="7073900" cy="44196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BBBBF4-E1AD-7927-9B68-F7FA39483EAF}"/>
              </a:ext>
            </a:extLst>
          </p:cNvPr>
          <p:cNvCxnSpPr/>
          <p:nvPr/>
        </p:nvCxnSpPr>
        <p:spPr>
          <a:xfrm>
            <a:off x="8216900" y="2235200"/>
            <a:ext cx="0" cy="3340100"/>
          </a:xfrm>
          <a:prstGeom prst="line">
            <a:avLst/>
          </a:prstGeom>
          <a:ln w="25400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8D52CF-2113-571D-6A74-7592720A919A}"/>
              </a:ext>
            </a:extLst>
          </p:cNvPr>
          <p:cNvSpPr/>
          <p:nvPr/>
        </p:nvSpPr>
        <p:spPr>
          <a:xfrm>
            <a:off x="8064500" y="2108200"/>
            <a:ext cx="317500" cy="317500"/>
          </a:xfrm>
          <a:prstGeom prst="round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E66C0-A973-7393-8B2B-09BBE21DA4AB}"/>
              </a:ext>
            </a:extLst>
          </p:cNvPr>
          <p:cNvSpPr txBox="1"/>
          <p:nvPr/>
        </p:nvSpPr>
        <p:spPr>
          <a:xfrm>
            <a:off x="8064500" y="21717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B096F-7E94-2642-61E0-9822D9DC6A62}"/>
              </a:ext>
            </a:extLst>
          </p:cNvPr>
          <p:cNvSpPr txBox="1"/>
          <p:nvPr/>
        </p:nvSpPr>
        <p:spPr>
          <a:xfrm>
            <a:off x="8559800" y="20955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Discover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95E58-035D-0F08-2D53-C09B0DCF0978}"/>
              </a:ext>
            </a:extLst>
          </p:cNvPr>
          <p:cNvSpPr txBox="1"/>
          <p:nvPr/>
        </p:nvSpPr>
        <p:spPr>
          <a:xfrm>
            <a:off x="8559800" y="23622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Categories, search, filters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7D1DF4-3411-209C-1E95-626342607C75}"/>
              </a:ext>
            </a:extLst>
          </p:cNvPr>
          <p:cNvSpPr/>
          <p:nvPr/>
        </p:nvSpPr>
        <p:spPr>
          <a:xfrm>
            <a:off x="8064500" y="2819400"/>
            <a:ext cx="317500" cy="3175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00825-728E-B065-D09C-EC23BC1C7C4C}"/>
              </a:ext>
            </a:extLst>
          </p:cNvPr>
          <p:cNvSpPr txBox="1"/>
          <p:nvPr/>
        </p:nvSpPr>
        <p:spPr>
          <a:xfrm>
            <a:off x="8064500" y="28829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3B093-65B5-8F3C-0B33-9D3C04130D3B}"/>
              </a:ext>
            </a:extLst>
          </p:cNvPr>
          <p:cNvSpPr txBox="1"/>
          <p:nvPr/>
        </p:nvSpPr>
        <p:spPr>
          <a:xfrm>
            <a:off x="8559800" y="28067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Evaluate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DD03B-6BA0-06EE-BFCA-511937C8F6DC}"/>
              </a:ext>
            </a:extLst>
          </p:cNvPr>
          <p:cNvSpPr txBox="1"/>
          <p:nvPr/>
        </p:nvSpPr>
        <p:spPr>
          <a:xfrm>
            <a:off x="8559800" y="30734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Variants, ratings, reviews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9E170-0721-651C-6D4D-80212297FBBA}"/>
              </a:ext>
            </a:extLst>
          </p:cNvPr>
          <p:cNvSpPr/>
          <p:nvPr/>
        </p:nvSpPr>
        <p:spPr>
          <a:xfrm>
            <a:off x="8064500" y="3530600"/>
            <a:ext cx="317500" cy="317500"/>
          </a:xfrm>
          <a:prstGeom prst="roundRect">
            <a:avLst/>
          </a:prstGeom>
          <a:solidFill>
            <a:srgbClr val="9A34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2400C7-6AFA-570C-528F-E70B1F7E31C7}"/>
              </a:ext>
            </a:extLst>
          </p:cNvPr>
          <p:cNvSpPr txBox="1"/>
          <p:nvPr/>
        </p:nvSpPr>
        <p:spPr>
          <a:xfrm>
            <a:off x="8064500" y="35941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0F97BD-9F7E-644F-1F6B-4D4EDCEFAFC6}"/>
              </a:ext>
            </a:extLst>
          </p:cNvPr>
          <p:cNvSpPr txBox="1"/>
          <p:nvPr/>
        </p:nvSpPr>
        <p:spPr>
          <a:xfrm>
            <a:off x="8559800" y="35179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Save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C0B0B4-46D3-BDA1-B850-03231B41B743}"/>
              </a:ext>
            </a:extLst>
          </p:cNvPr>
          <p:cNvSpPr txBox="1"/>
          <p:nvPr/>
        </p:nvSpPr>
        <p:spPr>
          <a:xfrm>
            <a:off x="8559800" y="37846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Guest cart and wishlist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61B7952-4405-C87B-0E70-68308D83C8BD}"/>
              </a:ext>
            </a:extLst>
          </p:cNvPr>
          <p:cNvSpPr/>
          <p:nvPr/>
        </p:nvSpPr>
        <p:spPr>
          <a:xfrm>
            <a:off x="8064500" y="4241800"/>
            <a:ext cx="317500" cy="3175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1F80C5-C83B-27B9-4586-904019747C9F}"/>
              </a:ext>
            </a:extLst>
          </p:cNvPr>
          <p:cNvSpPr txBox="1"/>
          <p:nvPr/>
        </p:nvSpPr>
        <p:spPr>
          <a:xfrm>
            <a:off x="8064500" y="43053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7CB1E0-FD15-5AE8-56D8-876BCE8A2B3C}"/>
              </a:ext>
            </a:extLst>
          </p:cNvPr>
          <p:cNvSpPr txBox="1"/>
          <p:nvPr/>
        </p:nvSpPr>
        <p:spPr>
          <a:xfrm>
            <a:off x="8559800" y="42291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Complete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C4B9FD-3CF7-35F2-3917-1D22676DD5E3}"/>
              </a:ext>
            </a:extLst>
          </p:cNvPr>
          <p:cNvSpPr txBox="1"/>
          <p:nvPr/>
        </p:nvSpPr>
        <p:spPr>
          <a:xfrm>
            <a:off x="8559800" y="44958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Coupon and checkout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FCEF63-4E1A-E06D-4896-DD1D54B36B64}"/>
              </a:ext>
            </a:extLst>
          </p:cNvPr>
          <p:cNvSpPr/>
          <p:nvPr/>
        </p:nvSpPr>
        <p:spPr>
          <a:xfrm>
            <a:off x="8064500" y="4953000"/>
            <a:ext cx="317500" cy="317500"/>
          </a:xfrm>
          <a:prstGeom prst="round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2089F7-B66D-2973-68F9-B8D45B6FACF6}"/>
              </a:ext>
            </a:extLst>
          </p:cNvPr>
          <p:cNvSpPr txBox="1"/>
          <p:nvPr/>
        </p:nvSpPr>
        <p:spPr>
          <a:xfrm>
            <a:off x="8064500" y="50165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8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945C72-FA0F-3D19-96CA-3F1EE23D6FC0}"/>
              </a:ext>
            </a:extLst>
          </p:cNvPr>
          <p:cNvSpPr txBox="1"/>
          <p:nvPr/>
        </p:nvSpPr>
        <p:spPr>
          <a:xfrm>
            <a:off x="8559800" y="49403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Stay informed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4AD5EA-CCA2-977C-E362-A0BB94627E75}"/>
              </a:ext>
            </a:extLst>
          </p:cNvPr>
          <p:cNvSpPr txBox="1"/>
          <p:nvPr/>
        </p:nvSpPr>
        <p:spPr>
          <a:xfrm>
            <a:off x="8559800" y="5207000"/>
            <a:ext cx="2730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History, updates, feedback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49AA20-3C0B-0278-A7E7-9098FB442A89}"/>
              </a:ext>
            </a:extLst>
          </p:cNvPr>
          <p:cNvSpPr/>
          <p:nvPr/>
        </p:nvSpPr>
        <p:spPr>
          <a:xfrm>
            <a:off x="5765800" y="5905500"/>
            <a:ext cx="1562100" cy="30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962D5-C366-6815-B8AF-DF420EA1FF11}"/>
              </a:ext>
            </a:extLst>
          </p:cNvPr>
          <p:cNvSpPr txBox="1"/>
          <p:nvPr/>
        </p:nvSpPr>
        <p:spPr>
          <a:xfrm>
            <a:off x="5765800" y="5969000"/>
            <a:ext cx="1562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REAL PRODUCT UI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C4D094-68C0-2962-E40C-7F379EBFBF4F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9525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D6789AD-D96F-32EF-47CD-37E99B2D557F}"/>
              </a:ext>
            </a:extLst>
          </p:cNvPr>
          <p:cNvSpPr/>
          <p:nvPr/>
        </p:nvSpPr>
        <p:spPr>
          <a:xfrm>
            <a:off x="533400" y="6502400"/>
            <a:ext cx="8382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4D2A3-3A4A-0636-F300-CB0D46610ADB}"/>
              </a:ext>
            </a:extLst>
          </p:cNvPr>
          <p:cNvSpPr txBox="1"/>
          <p:nvPr/>
        </p:nvSpPr>
        <p:spPr>
          <a:xfrm>
            <a:off x="533400" y="65659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MAHMOD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0637CD-6FE2-478C-F6B0-2374037EAD45}"/>
              </a:ext>
            </a:extLst>
          </p:cNvPr>
          <p:cNvSpPr txBox="1"/>
          <p:nvPr/>
        </p:nvSpPr>
        <p:spPr>
          <a:xfrm>
            <a:off x="10896600" y="65532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AE" sz="800" b="1">
                <a:solidFill>
                  <a:srgbClr val="A8A29E"/>
                </a:solidFill>
                <a:latin typeface="Inter"/>
              </a:rPr>
              <a:t>03 / 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748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3F8227-0353-0337-5A30-B5AE71BEED35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10A55-7B06-1C1B-2972-EC63D3CFFCE4}"/>
              </a:ext>
            </a:extLst>
          </p:cNvPr>
          <p:cNvSpPr txBox="1"/>
          <p:nvPr/>
        </p:nvSpPr>
        <p:spPr>
          <a:xfrm>
            <a:off x="533400" y="304800"/>
            <a:ext cx="520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A580C"/>
                </a:solidFill>
                <a:latin typeface="Inter"/>
              </a:rPr>
              <a:t>PILLAR 2 - BUSINESS OPERATIONS</a:t>
            </a:r>
            <a:endParaRPr lang="en-AE" sz="1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94458-5433-7AE9-4759-248E3CDD1EA3}"/>
              </a:ext>
            </a:extLst>
          </p:cNvPr>
          <p:cNvSpPr txBox="1"/>
          <p:nvPr/>
        </p:nvSpPr>
        <p:spPr>
          <a:xfrm>
            <a:off x="533400" y="635000"/>
            <a:ext cx="1079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C1917"/>
                </a:solidFill>
                <a:latin typeface="Inter"/>
              </a:rPr>
              <a:t>Turn demand into coordinated action</a:t>
            </a:r>
            <a:endParaRPr lang="en-AE" sz="26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FEC38-8AF6-0012-E222-9C9D5A760E44}"/>
              </a:ext>
            </a:extLst>
          </p:cNvPr>
          <p:cNvSpPr txBox="1"/>
          <p:nvPr/>
        </p:nvSpPr>
        <p:spPr>
          <a:xfrm>
            <a:off x="533400" y="1244600"/>
            <a:ext cx="1073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7534E"/>
                </a:solidFill>
                <a:latin typeface="Inter"/>
              </a:rPr>
              <a:t>The platform converts customer demand into visible, controlled operational work.</a:t>
            </a:r>
            <a:endParaRPr lang="en-AE" sz="1200">
              <a:solidFill>
                <a:srgbClr val="57534E"/>
              </a:solidFill>
              <a:latin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277D8-FB5A-3ED8-D0E3-68DFDE710EDE}"/>
              </a:ext>
            </a:extLst>
          </p:cNvPr>
          <p:cNvSpPr/>
          <p:nvPr/>
        </p:nvSpPr>
        <p:spPr>
          <a:xfrm>
            <a:off x="546100" y="2095500"/>
            <a:ext cx="50800" cy="571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495E4-E435-32BC-E4E3-2A23CB8C8512}"/>
              </a:ext>
            </a:extLst>
          </p:cNvPr>
          <p:cNvSpPr txBox="1"/>
          <p:nvPr/>
        </p:nvSpPr>
        <p:spPr>
          <a:xfrm>
            <a:off x="787400" y="20828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Fulfillment control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DC36D-7F0E-2B52-3780-1F5A8AA95EDD}"/>
              </a:ext>
            </a:extLst>
          </p:cNvPr>
          <p:cNvSpPr txBox="1"/>
          <p:nvPr/>
        </p:nvSpPr>
        <p:spPr>
          <a:xfrm>
            <a:off x="787400" y="23495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Move orders through clear statuses and keep customers informed.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8C18C-7645-740A-6CAF-9CBACB1DA5C2}"/>
              </a:ext>
            </a:extLst>
          </p:cNvPr>
          <p:cNvSpPr/>
          <p:nvPr/>
        </p:nvSpPr>
        <p:spPr>
          <a:xfrm>
            <a:off x="546100" y="3136900"/>
            <a:ext cx="50800" cy="571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281C3-A031-BF3B-989E-CE8606AB10A2}"/>
              </a:ext>
            </a:extLst>
          </p:cNvPr>
          <p:cNvSpPr txBox="1"/>
          <p:nvPr/>
        </p:nvSpPr>
        <p:spPr>
          <a:xfrm>
            <a:off x="787400" y="31242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Inventory awareness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4F5830-4792-A669-47FC-C6C8177E24F1}"/>
              </a:ext>
            </a:extLst>
          </p:cNvPr>
          <p:cNvSpPr txBox="1"/>
          <p:nvPr/>
        </p:nvSpPr>
        <p:spPr>
          <a:xfrm>
            <a:off x="787400" y="33909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Threshold alerts surface stock risk before it becomes a surprise.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29742-5E91-AE6F-B30D-918C3FEA74EF}"/>
              </a:ext>
            </a:extLst>
          </p:cNvPr>
          <p:cNvSpPr/>
          <p:nvPr/>
        </p:nvSpPr>
        <p:spPr>
          <a:xfrm>
            <a:off x="546100" y="4178300"/>
            <a:ext cx="50800" cy="5715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942E7-A1E8-B431-6096-5D42F4310C5B}"/>
              </a:ext>
            </a:extLst>
          </p:cNvPr>
          <p:cNvSpPr txBox="1"/>
          <p:nvPr/>
        </p:nvSpPr>
        <p:spPr>
          <a:xfrm>
            <a:off x="787400" y="41656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Procurement traceability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0A327-70EF-853E-EE92-5973E3792F14}"/>
              </a:ext>
            </a:extLst>
          </p:cNvPr>
          <p:cNvSpPr txBox="1"/>
          <p:nvPr/>
        </p:nvSpPr>
        <p:spPr>
          <a:xfrm>
            <a:off x="787400" y="44323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Supplier purchases update stock and capture cost together.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2C5715-99BB-168B-8223-6AFC0C97C6BB}"/>
              </a:ext>
            </a:extLst>
          </p:cNvPr>
          <p:cNvSpPr/>
          <p:nvPr/>
        </p:nvSpPr>
        <p:spPr>
          <a:xfrm>
            <a:off x="546100" y="5346700"/>
            <a:ext cx="31750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7AE10-A711-C763-31F6-29113BFBEB02}"/>
              </a:ext>
            </a:extLst>
          </p:cNvPr>
          <p:cNvSpPr txBox="1"/>
          <p:nvPr/>
        </p:nvSpPr>
        <p:spPr>
          <a:xfrm>
            <a:off x="546100" y="54102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ROLE-BASED CONTROLS + AUDIT LOGS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E0B9DE-BC1B-140F-36D8-422D1D51480E}"/>
              </a:ext>
            </a:extLst>
          </p:cNvPr>
          <p:cNvSpPr/>
          <p:nvPr/>
        </p:nvSpPr>
        <p:spPr>
          <a:xfrm>
            <a:off x="4419600" y="1841500"/>
            <a:ext cx="7289800" cy="4559300"/>
          </a:xfrm>
          <a:prstGeom prst="roundRect">
            <a:avLst/>
          </a:prstGeom>
          <a:solidFill>
            <a:srgbClr val="D6D3D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C4AC57-A5BA-3372-2A0B-F9292B616D34}"/>
              </a:ext>
            </a:extLst>
          </p:cNvPr>
          <p:cNvSpPr/>
          <p:nvPr/>
        </p:nvSpPr>
        <p:spPr>
          <a:xfrm>
            <a:off x="4343400" y="1752600"/>
            <a:ext cx="7340600" cy="4610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48C4DA8-91F4-9E78-9F68-101C65F85C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778000"/>
            <a:ext cx="7289800" cy="45593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B7FE0-DF61-83A6-E347-78F53987EA15}"/>
              </a:ext>
            </a:extLst>
          </p:cNvPr>
          <p:cNvSpPr/>
          <p:nvPr/>
        </p:nvSpPr>
        <p:spPr>
          <a:xfrm>
            <a:off x="8674100" y="5918200"/>
            <a:ext cx="2730500" cy="30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1F6751-22EA-C4C6-9CF5-F17B329C826C}"/>
              </a:ext>
            </a:extLst>
          </p:cNvPr>
          <p:cNvSpPr txBox="1"/>
          <p:nvPr/>
        </p:nvSpPr>
        <p:spPr>
          <a:xfrm>
            <a:off x="8674100" y="5981700"/>
            <a:ext cx="2730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7534E"/>
                </a:solidFill>
                <a:latin typeface="Inter"/>
              </a:rPr>
              <a:t>REPRESENTATIVE LOCAL TEST DATA</a:t>
            </a:r>
            <a:endParaRPr lang="en-AE" sz="900" b="1">
              <a:solidFill>
                <a:srgbClr val="57534E"/>
              </a:solidFill>
              <a:latin typeface="Inter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B3E52C-5DAE-CBB3-3728-D22DACEC1C18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9525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EDB9E3-FE8A-18DF-70E1-C1709A439CF3}"/>
              </a:ext>
            </a:extLst>
          </p:cNvPr>
          <p:cNvSpPr/>
          <p:nvPr/>
        </p:nvSpPr>
        <p:spPr>
          <a:xfrm>
            <a:off x="533400" y="6502400"/>
            <a:ext cx="8382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ACC6F-D90A-1A7B-1AFF-43D93FC7D4CA}"/>
              </a:ext>
            </a:extLst>
          </p:cNvPr>
          <p:cNvSpPr txBox="1"/>
          <p:nvPr/>
        </p:nvSpPr>
        <p:spPr>
          <a:xfrm>
            <a:off x="533400" y="65659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MAHMOD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F5CCFB-C8C4-01CD-A627-FD77DF4248F5}"/>
              </a:ext>
            </a:extLst>
          </p:cNvPr>
          <p:cNvSpPr txBox="1"/>
          <p:nvPr/>
        </p:nvSpPr>
        <p:spPr>
          <a:xfrm>
            <a:off x="10896600" y="65532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AE" sz="800" b="1">
                <a:solidFill>
                  <a:srgbClr val="A8A29E"/>
                </a:solidFill>
                <a:latin typeface="Inter"/>
              </a:rPr>
              <a:t>04 / 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58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BE674B-5171-B980-C9CB-E8280C1D4D25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1D654-D303-138E-7D74-EA363AD27A96}"/>
              </a:ext>
            </a:extLst>
          </p:cNvPr>
          <p:cNvSpPr txBox="1"/>
          <p:nvPr/>
        </p:nvSpPr>
        <p:spPr>
          <a:xfrm>
            <a:off x="533400" y="304800"/>
            <a:ext cx="520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A580C"/>
                </a:solidFill>
                <a:latin typeface="Inter"/>
              </a:rPr>
              <a:t>MANAGEMENT VISIBILITY</a:t>
            </a:r>
            <a:endParaRPr lang="en-AE" sz="1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D70D1-1F11-1A84-BFBC-AAC8122C1647}"/>
              </a:ext>
            </a:extLst>
          </p:cNvPr>
          <p:cNvSpPr txBox="1"/>
          <p:nvPr/>
        </p:nvSpPr>
        <p:spPr>
          <a:xfrm>
            <a:off x="533400" y="635000"/>
            <a:ext cx="1079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C1917"/>
                </a:solidFill>
                <a:latin typeface="Inter"/>
              </a:rPr>
              <a:t>See what needs attention—and what is working</a:t>
            </a:r>
            <a:endParaRPr lang="en-AE" sz="26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97261-C8B6-DACD-EBB6-DA5F77797248}"/>
              </a:ext>
            </a:extLst>
          </p:cNvPr>
          <p:cNvSpPr txBox="1"/>
          <p:nvPr/>
        </p:nvSpPr>
        <p:spPr>
          <a:xfrm>
            <a:off x="533400" y="1244600"/>
            <a:ext cx="1073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7534E"/>
                </a:solidFill>
                <a:latin typeface="Inter"/>
              </a:rPr>
              <a:t>OptiCart turns platform activity into practical visibility for planning and prioritization.</a:t>
            </a:r>
            <a:endParaRPr lang="en-AE" sz="1200">
              <a:solidFill>
                <a:srgbClr val="57534E"/>
              </a:solidFill>
              <a:latin typeface="Int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BDA21-3F28-C029-1075-5263CD374E06}"/>
              </a:ext>
            </a:extLst>
          </p:cNvPr>
          <p:cNvSpPr/>
          <p:nvPr/>
        </p:nvSpPr>
        <p:spPr>
          <a:xfrm>
            <a:off x="546100" y="2159000"/>
            <a:ext cx="50800" cy="571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FB88F-94C7-F289-E84E-5BC36B4B2748}"/>
              </a:ext>
            </a:extLst>
          </p:cNvPr>
          <p:cNvSpPr txBox="1"/>
          <p:nvPr/>
        </p:nvSpPr>
        <p:spPr>
          <a:xfrm>
            <a:off x="787400" y="21463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Performance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9A4B3-255F-25B3-18A4-223239421761}"/>
              </a:ext>
            </a:extLst>
          </p:cNvPr>
          <p:cNvSpPr txBox="1"/>
          <p:nvPr/>
        </p:nvSpPr>
        <p:spPr>
          <a:xfrm>
            <a:off x="787400" y="24130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Delivered revenue, order volume, average order value.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D22E6-66CE-B2BB-4E9D-2081E8EE812C}"/>
              </a:ext>
            </a:extLst>
          </p:cNvPr>
          <p:cNvSpPr/>
          <p:nvPr/>
        </p:nvSpPr>
        <p:spPr>
          <a:xfrm>
            <a:off x="546100" y="3263900"/>
            <a:ext cx="50800" cy="5715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02AA-38B6-8CDB-C88F-240DD72237E5}"/>
              </a:ext>
            </a:extLst>
          </p:cNvPr>
          <p:cNvSpPr txBox="1"/>
          <p:nvPr/>
        </p:nvSpPr>
        <p:spPr>
          <a:xfrm>
            <a:off x="787400" y="32512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Demand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02BEB-957C-F575-5A12-D569688DCDAD}"/>
              </a:ext>
            </a:extLst>
          </p:cNvPr>
          <p:cNvSpPr txBox="1"/>
          <p:nvPr/>
        </p:nvSpPr>
        <p:spPr>
          <a:xfrm>
            <a:off x="787400" y="35179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Customer growth and top-selling SKUs.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07E05-4DD8-27E2-A22F-3A976A961124}"/>
              </a:ext>
            </a:extLst>
          </p:cNvPr>
          <p:cNvSpPr/>
          <p:nvPr/>
        </p:nvSpPr>
        <p:spPr>
          <a:xfrm>
            <a:off x="546100" y="4368800"/>
            <a:ext cx="50800" cy="571500"/>
          </a:xfrm>
          <a:prstGeom prst="rect">
            <a:avLst/>
          </a:prstGeom>
          <a:solidFill>
            <a:srgbClr val="9A34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D531B-2EC8-DD1A-F098-8B153016012B}"/>
              </a:ext>
            </a:extLst>
          </p:cNvPr>
          <p:cNvSpPr txBox="1"/>
          <p:nvPr/>
        </p:nvSpPr>
        <p:spPr>
          <a:xfrm>
            <a:off x="787400" y="43561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1917"/>
                </a:solidFill>
                <a:latin typeface="Inter"/>
              </a:rPr>
              <a:t>Investment</a:t>
            </a:r>
            <a:endParaRPr lang="en-AE" sz="1300" b="1">
              <a:solidFill>
                <a:srgbClr val="1C1917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46AAB-ED84-77C8-0233-02972786F84C}"/>
              </a:ext>
            </a:extLst>
          </p:cNvPr>
          <p:cNvSpPr txBox="1"/>
          <p:nvPr/>
        </p:nvSpPr>
        <p:spPr>
          <a:xfrm>
            <a:off x="787400" y="4622800"/>
            <a:ext cx="330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57534E"/>
                </a:solidFill>
                <a:latin typeface="Inter"/>
              </a:rPr>
              <a:t>Supplier purchase spend and units bought.</a:t>
            </a:r>
            <a:endParaRPr lang="en-AE" sz="950">
              <a:solidFill>
                <a:srgbClr val="57534E"/>
              </a:solidFill>
              <a:latin typeface="Inte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0F3E04-45CF-1327-8688-E6B95703B636}"/>
              </a:ext>
            </a:extLst>
          </p:cNvPr>
          <p:cNvSpPr/>
          <p:nvPr/>
        </p:nvSpPr>
        <p:spPr>
          <a:xfrm>
            <a:off x="546100" y="5562600"/>
            <a:ext cx="24130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DB089-4E50-1964-EA7F-17B4361D4187}"/>
              </a:ext>
            </a:extLst>
          </p:cNvPr>
          <p:cNvSpPr txBox="1"/>
          <p:nvPr/>
        </p:nvSpPr>
        <p:spPr>
          <a:xfrm>
            <a:off x="546100" y="5626100"/>
            <a:ext cx="241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IMPLEMENTED ANALYTICS VIEWS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B0BBE9-DD2E-5D39-304F-5BD04E12DD93}"/>
              </a:ext>
            </a:extLst>
          </p:cNvPr>
          <p:cNvSpPr/>
          <p:nvPr/>
        </p:nvSpPr>
        <p:spPr>
          <a:xfrm>
            <a:off x="4381500" y="1841500"/>
            <a:ext cx="7327900" cy="4584700"/>
          </a:xfrm>
          <a:prstGeom prst="roundRect">
            <a:avLst/>
          </a:prstGeom>
          <a:solidFill>
            <a:srgbClr val="D6D3D1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748C15-1740-A01A-A511-B62307124AE2}"/>
              </a:ext>
            </a:extLst>
          </p:cNvPr>
          <p:cNvSpPr/>
          <p:nvPr/>
        </p:nvSpPr>
        <p:spPr>
          <a:xfrm>
            <a:off x="4305300" y="1752600"/>
            <a:ext cx="7378700" cy="4635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78AB9F5-7D8B-1377-88C4-3E3F14F15C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00" y="1778000"/>
            <a:ext cx="7327900" cy="45847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2E263C-D569-87C6-7688-9C63CD0FB5A2}"/>
              </a:ext>
            </a:extLst>
          </p:cNvPr>
          <p:cNvSpPr/>
          <p:nvPr/>
        </p:nvSpPr>
        <p:spPr>
          <a:xfrm>
            <a:off x="7835900" y="5918200"/>
            <a:ext cx="3568700" cy="30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AD463C-3D3C-993F-D687-695032B36CCB}"/>
              </a:ext>
            </a:extLst>
          </p:cNvPr>
          <p:cNvSpPr txBox="1"/>
          <p:nvPr/>
        </p:nvSpPr>
        <p:spPr>
          <a:xfrm>
            <a:off x="7835900" y="5981700"/>
            <a:ext cx="35687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57534E"/>
                </a:solidFill>
                <a:latin typeface="Inter"/>
              </a:rPr>
              <a:t>ILLUSTRATIVE TEST DATA - NOT COMMERCIAL RESULTS</a:t>
            </a:r>
            <a:endParaRPr lang="en-AE" sz="900" b="1">
              <a:solidFill>
                <a:srgbClr val="57534E"/>
              </a:solidFill>
              <a:latin typeface="Inter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8005B3-DD0F-9F53-E0B6-079DEDDC774D}"/>
              </a:ext>
            </a:extLst>
          </p:cNvPr>
          <p:cNvCxnSpPr/>
          <p:nvPr/>
        </p:nvCxnSpPr>
        <p:spPr>
          <a:xfrm>
            <a:off x="533400" y="6438900"/>
            <a:ext cx="11125200" cy="0"/>
          </a:xfrm>
          <a:prstGeom prst="line">
            <a:avLst/>
          </a:prstGeom>
          <a:ln w="9525" cap="flat" cmpd="sng" algn="ctr">
            <a:solidFill>
              <a:srgbClr val="E7E5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190111-28D5-2708-21A7-6F2F921821D5}"/>
              </a:ext>
            </a:extLst>
          </p:cNvPr>
          <p:cNvSpPr/>
          <p:nvPr/>
        </p:nvSpPr>
        <p:spPr>
          <a:xfrm>
            <a:off x="533400" y="6502400"/>
            <a:ext cx="838200" cy="304800"/>
          </a:xfrm>
          <a:prstGeom prst="round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84F36F-05DD-8E29-5E64-897AC1BFB80E}"/>
              </a:ext>
            </a:extLst>
          </p:cNvPr>
          <p:cNvSpPr txBox="1"/>
          <p:nvPr/>
        </p:nvSpPr>
        <p:spPr>
          <a:xfrm>
            <a:off x="533400" y="65659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9A3412"/>
                </a:solidFill>
                <a:latin typeface="Inter"/>
              </a:rPr>
              <a:t>HAYA</a:t>
            </a:r>
            <a:endParaRPr lang="en-AE" sz="900" b="1">
              <a:solidFill>
                <a:srgbClr val="9A3412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E726E-9D71-7CB6-FE15-47A9B3AAC061}"/>
              </a:ext>
            </a:extLst>
          </p:cNvPr>
          <p:cNvSpPr txBox="1"/>
          <p:nvPr/>
        </p:nvSpPr>
        <p:spPr>
          <a:xfrm>
            <a:off x="10896600" y="6553200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AE" sz="800" b="1">
                <a:solidFill>
                  <a:srgbClr val="A8A29E"/>
                </a:solidFill>
                <a:latin typeface="Inter"/>
              </a:rPr>
              <a:t>05 / 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75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B0C77-C8FD-B066-B24B-D714EE191F56}"/>
              </a:ext>
            </a:extLst>
          </p:cNvPr>
          <p:cNvSpPr txBox="1"/>
          <p:nvPr/>
        </p:nvSpPr>
        <p:spPr>
          <a:xfrm>
            <a:off x="660400" y="406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A580C"/>
                </a:solidFill>
                <a:latin typeface="Inter"/>
              </a:rPr>
              <a:t>OPTICART</a:t>
            </a:r>
            <a:endParaRPr lang="en-AE" sz="10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F438B-9207-6AF0-8624-9E72DD3B102D}"/>
              </a:ext>
            </a:extLst>
          </p:cNvPr>
          <p:cNvSpPr txBox="1"/>
          <p:nvPr/>
        </p:nvSpPr>
        <p:spPr>
          <a:xfrm>
            <a:off x="660400" y="952500"/>
            <a:ext cx="825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Inter"/>
              </a:rPr>
              <a:t>Built as a product, not a page</a:t>
            </a:r>
            <a:endParaRPr lang="en-AE" sz="3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32DB6-1E0E-18B9-B3D1-BF8907638B95}"/>
              </a:ext>
            </a:extLst>
          </p:cNvPr>
          <p:cNvSpPr txBox="1"/>
          <p:nvPr/>
        </p:nvSpPr>
        <p:spPr>
          <a:xfrm>
            <a:off x="660400" y="16256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D6D3D1"/>
                </a:solidFill>
                <a:latin typeface="Inter"/>
              </a:rPr>
              <a:t>The value is in the connection.</a:t>
            </a:r>
            <a:endParaRPr lang="en-AE" sz="1500">
              <a:solidFill>
                <a:srgbClr val="D6D3D1"/>
              </a:solidFill>
              <a:latin typeface="Inter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8CCFDB-766A-F869-40FF-4BC6A9709A50}"/>
              </a:ext>
            </a:extLst>
          </p:cNvPr>
          <p:cNvSpPr/>
          <p:nvPr/>
        </p:nvSpPr>
        <p:spPr>
          <a:xfrm>
            <a:off x="660400" y="2527300"/>
            <a:ext cx="4356100" cy="2286000"/>
          </a:xfrm>
          <a:prstGeom prst="roundRect">
            <a:avLst/>
          </a:prstGeom>
          <a:solidFill>
            <a:srgbClr val="292524"/>
          </a:solidFill>
          <a:ln w="12700" cap="flat" cmpd="sng" algn="ctr">
            <a:solidFill>
              <a:srgbClr val="44403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8968A-D87E-6560-32B1-1F6550D76437}"/>
              </a:ext>
            </a:extLst>
          </p:cNvPr>
          <p:cNvSpPr txBox="1"/>
          <p:nvPr/>
        </p:nvSpPr>
        <p:spPr>
          <a:xfrm>
            <a:off x="990600" y="2844800"/>
            <a:ext cx="342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0D9488"/>
                </a:solidFill>
                <a:latin typeface="Inter"/>
              </a:rPr>
              <a:t>CUSTOMER EXPERIENCE</a:t>
            </a:r>
            <a:endParaRPr lang="en-AE" sz="9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535F2-0A87-A19F-CE81-2BA34D9CA755}"/>
              </a:ext>
            </a:extLst>
          </p:cNvPr>
          <p:cNvSpPr txBox="1"/>
          <p:nvPr/>
        </p:nvSpPr>
        <p:spPr>
          <a:xfrm>
            <a:off x="990600" y="3340100"/>
            <a:ext cx="3365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Inter"/>
              </a:rPr>
              <a:t>A journey that can complete a sale</a:t>
            </a:r>
            <a:endParaRPr lang="en-A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7B515-ABA8-A092-6F3B-AC2BABB72102}"/>
              </a:ext>
            </a:extLst>
          </p:cNvPr>
          <p:cNvSpPr txBox="1"/>
          <p:nvPr/>
        </p:nvSpPr>
        <p:spPr>
          <a:xfrm>
            <a:off x="990600" y="424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A8A29E"/>
                </a:solidFill>
                <a:latin typeface="Inter"/>
              </a:rPr>
              <a:t>discover  -  decide  -  buy  -  track</a:t>
            </a:r>
            <a:endParaRPr lang="en-AE" sz="1000">
              <a:solidFill>
                <a:srgbClr val="A8A29E"/>
              </a:solidFill>
              <a:latin typeface="Inte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4D6FC2-C982-7DFC-CF36-2A9B313950B6}"/>
              </a:ext>
            </a:extLst>
          </p:cNvPr>
          <p:cNvSpPr/>
          <p:nvPr/>
        </p:nvSpPr>
        <p:spPr>
          <a:xfrm>
            <a:off x="7175500" y="2527300"/>
            <a:ext cx="4356100" cy="2286000"/>
          </a:xfrm>
          <a:prstGeom prst="roundRect">
            <a:avLst/>
          </a:prstGeom>
          <a:solidFill>
            <a:srgbClr val="292524"/>
          </a:solidFill>
          <a:ln w="12700" cap="flat" cmpd="sng" algn="ctr">
            <a:solidFill>
              <a:srgbClr val="44403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BD540-5CB9-6593-2962-FED1EF74CC45}"/>
              </a:ext>
            </a:extLst>
          </p:cNvPr>
          <p:cNvSpPr txBox="1"/>
          <p:nvPr/>
        </p:nvSpPr>
        <p:spPr>
          <a:xfrm>
            <a:off x="7505700" y="2844800"/>
            <a:ext cx="342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EA580C"/>
                </a:solidFill>
                <a:latin typeface="Inter"/>
              </a:rPr>
              <a:t>BUSINESS OPERATIONS</a:t>
            </a:r>
            <a:endParaRPr lang="en-AE" sz="900" b="1">
              <a:solidFill>
                <a:srgbClr val="EA580C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4FD6E-05AF-BC93-9CB2-52689416E29C}"/>
              </a:ext>
            </a:extLst>
          </p:cNvPr>
          <p:cNvSpPr txBox="1"/>
          <p:nvPr/>
        </p:nvSpPr>
        <p:spPr>
          <a:xfrm>
            <a:off x="7505700" y="3340100"/>
            <a:ext cx="34544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Inter"/>
              </a:rPr>
              <a:t>A workflow that can fulfill and learn</a:t>
            </a:r>
            <a:endParaRPr lang="en-A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AAC26-CC1F-22F8-16FE-EB0DA5FBC715}"/>
              </a:ext>
            </a:extLst>
          </p:cNvPr>
          <p:cNvSpPr txBox="1"/>
          <p:nvPr/>
        </p:nvSpPr>
        <p:spPr>
          <a:xfrm>
            <a:off x="7505700" y="424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A8A29E"/>
                </a:solidFill>
                <a:latin typeface="Inter"/>
              </a:rPr>
              <a:t>control  -  monitor  -  improve</a:t>
            </a:r>
            <a:endParaRPr lang="en-AE" sz="1000">
              <a:solidFill>
                <a:srgbClr val="A8A29E"/>
              </a:solidFill>
              <a:latin typeface="Inter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3A27B0-DCF1-9DEE-68A1-A33D1057A1F1}"/>
              </a:ext>
            </a:extLst>
          </p:cNvPr>
          <p:cNvCxnSpPr/>
          <p:nvPr/>
        </p:nvCxnSpPr>
        <p:spPr>
          <a:xfrm>
            <a:off x="5016500" y="3670300"/>
            <a:ext cx="2159000" cy="0"/>
          </a:xfrm>
          <a:prstGeom prst="line">
            <a:avLst/>
          </a:prstGeom>
          <a:ln w="38100" cap="flat" cmpd="sng" algn="ctr">
            <a:solidFill>
              <a:srgbClr val="EA580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409DA4-3A5F-D9EF-DE3B-4F97D5B6E4F9}"/>
              </a:ext>
            </a:extLst>
          </p:cNvPr>
          <p:cNvSpPr/>
          <p:nvPr/>
        </p:nvSpPr>
        <p:spPr>
          <a:xfrm>
            <a:off x="5689600" y="3251200"/>
            <a:ext cx="812800" cy="8128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72525-C3A0-8031-FEBC-9AEDCF1656DC}"/>
              </a:ext>
            </a:extLst>
          </p:cNvPr>
          <p:cNvSpPr txBox="1"/>
          <p:nvPr/>
        </p:nvSpPr>
        <p:spPr>
          <a:xfrm>
            <a:off x="5689600" y="3517900"/>
            <a:ext cx="812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AE" sz="1500" b="1">
                <a:solidFill>
                  <a:srgbClr val="FFFFFF"/>
                </a:solidFill>
                <a:latin typeface="Inter"/>
              </a:rPr>
              <a:t>&lt;-&gt;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DC7DB-01B1-5398-0A8E-D634C47DA3B0}"/>
              </a:ext>
            </a:extLst>
          </p:cNvPr>
          <p:cNvSpPr txBox="1"/>
          <p:nvPr/>
        </p:nvSpPr>
        <p:spPr>
          <a:xfrm>
            <a:off x="660400" y="5359400"/>
            <a:ext cx="914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Inter"/>
              </a:rPr>
              <a:t>Ready to contribute to real business software.</a:t>
            </a:r>
            <a:endParaRPr lang="en-AE" sz="20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8D18C-92A7-B092-FB8D-13BD45DA21B3}"/>
              </a:ext>
            </a:extLst>
          </p:cNvPr>
          <p:cNvSpPr txBox="1"/>
          <p:nvPr/>
        </p:nvSpPr>
        <p:spPr>
          <a:xfrm>
            <a:off x="660400" y="59055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A8A29E"/>
                </a:solidFill>
                <a:latin typeface="Inter"/>
              </a:rPr>
              <a:t>Complete MERN application - real workflows - clear responsibilities</a:t>
            </a:r>
            <a:endParaRPr lang="en-AE" sz="1000">
              <a:solidFill>
                <a:srgbClr val="A8A29E"/>
              </a:solidFill>
              <a:latin typeface="Inter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0B5C71-5923-20E7-8984-C3DFB7E269A9}"/>
              </a:ext>
            </a:extLst>
          </p:cNvPr>
          <p:cNvSpPr/>
          <p:nvPr/>
        </p:nvSpPr>
        <p:spPr>
          <a:xfrm>
            <a:off x="660400" y="6388100"/>
            <a:ext cx="838200" cy="304800"/>
          </a:xfrm>
          <a:prstGeom prst="roundRect">
            <a:avLst/>
          </a:prstGeom>
          <a:solidFill>
            <a:srgbClr val="4440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35336D-CA5D-FDC0-C137-A2DD6791E194}"/>
              </a:ext>
            </a:extLst>
          </p:cNvPr>
          <p:cNvSpPr txBox="1"/>
          <p:nvPr/>
        </p:nvSpPr>
        <p:spPr>
          <a:xfrm>
            <a:off x="660400" y="6451600"/>
            <a:ext cx="838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5F5F4"/>
                </a:solidFill>
                <a:latin typeface="Inter"/>
              </a:rPr>
              <a:t>HAYA</a:t>
            </a:r>
            <a:endParaRPr lang="en-AE" sz="900" b="1">
              <a:solidFill>
                <a:srgbClr val="F5F5F4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716963-6ECA-62A0-8E91-B387B0E234BD}"/>
              </a:ext>
            </a:extLst>
          </p:cNvPr>
          <p:cNvSpPr txBox="1"/>
          <p:nvPr/>
        </p:nvSpPr>
        <p:spPr>
          <a:xfrm>
            <a:off x="9906000" y="6413500"/>
            <a:ext cx="162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300" b="1">
                <a:solidFill>
                  <a:srgbClr val="EA580C"/>
                </a:solidFill>
                <a:latin typeface="Inter"/>
              </a:rPr>
              <a:t>Thank you.</a:t>
            </a:r>
            <a:endParaRPr lang="en-AE" sz="1300" b="1">
              <a:solidFill>
                <a:srgbClr val="EA580C"/>
              </a:solidFill>
              <a:latin typeface="Int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45678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Malik"/>
  <p:tag name="CANONICALSLIDENUMB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Malik"/>
  <p:tag name="CANONICALSLIDENUMB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Mahmod"/>
  <p:tag name="CANONICALSLIDENUMB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Mahmod"/>
  <p:tag name="CANONICALSLIDENUMB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Haya"/>
  <p:tag name="CANONICALSLIDENUMBER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" val="Haya"/>
  <p:tag name="CANONICALSLIDENUMBER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Custom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J. Sidawi</dc:creator>
  <cp:lastModifiedBy>Mahmoud J. Sidawi</cp:lastModifiedBy>
  <cp:revision>1</cp:revision>
  <dcterms:created xsi:type="dcterms:W3CDTF">2026-08-10T21:34:17Z</dcterms:created>
  <dcterms:modified xsi:type="dcterms:W3CDTF">2026-08-10T21:34:17Z</dcterms:modified>
</cp:coreProperties>
</file>